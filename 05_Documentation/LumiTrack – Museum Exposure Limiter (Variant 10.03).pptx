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14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Pins are suggestions; confirm against the Nucleo-64 pinout before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094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2781"/>
            <a:ext cx="10566400" cy="412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094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2781"/>
            <a:ext cx="10566400" cy="412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0" y="1905000"/>
            <a:ext cx="1778000" cy="17780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9271000" y="304800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2BB3B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736090"/>
            <a:ext cx="7194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VARIANT 10.03 | ESD AND IOT + MACHINE LEARNING</a:t>
            </a:r>
            <a:endParaRPr lang="en-US" sz="1500" dirty="0"/>
          </a:p>
        </p:txBody>
      </p:sp>
      <p:sp>
        <p:nvSpPr>
          <p:cNvPr id="6" name="Text 4"/>
          <p:cNvSpPr>
            <a:spLocks noGrp="1"/>
          </p:cNvSpPr>
          <p:nvPr>
            <p:ph type="title"/>
          </p:nvPr>
        </p:nvSpPr>
        <p:spPr>
          <a:xfrm>
            <a:off x="812800" y="2205990"/>
            <a:ext cx="78486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Museum Exposure Limiter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4009390"/>
            <a:ext cx="7521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LumiTrack: keep cumulative light below a target while retaining visibility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" y="4872990"/>
            <a:ext cx="7521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D0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NUCLEO-F446RE + servo + LDR </a:t>
            </a:r>
          </a:p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| WHY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and real-time use case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80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80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1F8A8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40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903220"/>
            <a:ext cx="310453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LDR sees light only where it points. Museum light is diffuse, directional, obstructed or changing, so one reading cannot protect an artifact.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5707" y="1846580"/>
            <a:ext cx="3420586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846580"/>
            <a:ext cx="3420586" cy="2184400"/>
          </a:xfrm>
          <a:custGeom>
            <a:avLst/>
            <a:gdLst/>
            <a:ahLst/>
            <a:cxnLst/>
            <a:rect l="l" t="t" r="r" b="b"/>
            <a:pathLst>
              <a:path w="3420586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86" y="0"/>
                </a:lnTo>
                <a:arcTo wR="101600" hR="101600" stAng="16200000" swAng="5400000"/>
                <a:lnTo>
                  <a:pt x="3420586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20853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907" y="2542540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8907" y="2903220"/>
            <a:ext cx="310461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smart showcase scans the light field, estimates exposure risk and tilts a shade to a safe angle, then keeps re-checking as visitors, windows and lamps change.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93" y="1846580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1846580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1F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893" y="20853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1893" y="2542540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1893" y="2903220"/>
            <a:ext cx="310453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cumulative light under a target while the exhibit stays visible. Fewer scans, fewer unsafe angles, no manual tuning.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2595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loop: scan, classify, command, acknowledge, re-scan on drift.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1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| ARCHITECTURE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80"/>
            <a:ext cx="2146300" cy="1958340"/>
          </a:xfrm>
          <a:prstGeom prst="roundRect">
            <a:avLst>
              <a:gd name="adj" fmla="val 5188"/>
            </a:avLst>
          </a:prstGeom>
          <a:solidFill>
            <a:srgbClr val="1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80"/>
            <a:ext cx="2146300" cy="1958340"/>
          </a:xfrm>
          <a:custGeom>
            <a:avLst/>
            <a:gdLst/>
            <a:ahLst/>
            <a:cxnLst/>
            <a:rect l="l" t="t" r="r" b="b"/>
            <a:pathLst>
              <a:path w="2146300" h="1958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044700" y="0"/>
                </a:lnTo>
                <a:arcTo wR="101600" hR="101600" stAng="16200000" swAng="5400000"/>
                <a:lnTo>
                  <a:pt x="2146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41"/>
            <a:ext cx="179209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6000" y="2446020"/>
            <a:ext cx="1792097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LDR divider into the 12-bit ADC, ambient reference, temperature channel, target-band potentiometer.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11500" y="257683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19500" y="1846580"/>
            <a:ext cx="2146300" cy="1958340"/>
          </a:xfrm>
          <a:prstGeom prst="roundRect">
            <a:avLst>
              <a:gd name="adj" fmla="val 5188"/>
            </a:avLst>
          </a:prstGeom>
          <a:solidFill>
            <a:srgbClr val="1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3619500" y="1846580"/>
            <a:ext cx="2146300" cy="1958340"/>
          </a:xfrm>
          <a:custGeom>
            <a:avLst/>
            <a:gdLst/>
            <a:ahLst/>
            <a:cxnLst/>
            <a:rect l="l" t="t" r="r" b="b"/>
            <a:pathLst>
              <a:path w="2146300" h="1958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044700" y="0"/>
                </a:lnTo>
                <a:arcTo wR="101600" hR="101600" stAng="16200000" swAng="5400000"/>
                <a:lnTo>
                  <a:pt x="2146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822700" y="2085341"/>
            <a:ext cx="179209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Actuate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22700" y="2446020"/>
            <a:ext cx="179209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Servo on timer PWM, external fused 4.8-6 V supply, travel stops.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18200" y="257683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26200" y="1846580"/>
            <a:ext cx="2146300" cy="1958340"/>
          </a:xfrm>
          <a:prstGeom prst="roundRect">
            <a:avLst>
              <a:gd name="adj" fmla="val 5188"/>
            </a:avLst>
          </a:prstGeom>
          <a:solidFill>
            <a:srgbClr val="1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6200" y="1846580"/>
            <a:ext cx="2146300" cy="1958340"/>
          </a:xfrm>
          <a:custGeom>
            <a:avLst/>
            <a:gdLst/>
            <a:ahLst/>
            <a:cxnLst/>
            <a:rect l="l" t="t" r="r" b="b"/>
            <a:pathLst>
              <a:path w="2146300" h="1958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044700" y="0"/>
                </a:lnTo>
                <a:arcTo wR="101600" hR="101600" stAng="16200000" swAng="5400000"/>
                <a:lnTo>
                  <a:pt x="2146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085341"/>
            <a:ext cx="179209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2446020"/>
            <a:ext cx="179209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USART2 over the ST-LINK virtual COM port. OLED or LEDs show state.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24900" y="2576830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232900" y="1846580"/>
            <a:ext cx="2146300" cy="1958340"/>
          </a:xfrm>
          <a:prstGeom prst="roundRect">
            <a:avLst>
              <a:gd name="adj" fmla="val 5188"/>
            </a:avLst>
          </a:prstGeom>
          <a:solidFill>
            <a:srgbClr val="1A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2900" y="1846580"/>
            <a:ext cx="2146300" cy="1958340"/>
          </a:xfrm>
          <a:custGeom>
            <a:avLst/>
            <a:gdLst/>
            <a:ahLst/>
            <a:cxnLst/>
            <a:rect l="l" t="t" r="r" b="b"/>
            <a:pathLst>
              <a:path w="2146300" h="1958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044700" y="0"/>
                </a:lnTo>
                <a:arcTo wR="101600" hR="101600" stAng="16200000" swAng="5400000"/>
                <a:lnTo>
                  <a:pt x="2146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436100" y="2085341"/>
            <a:ext cx="179209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36100" y="2446020"/>
            <a:ext cx="179209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Python runs features and models. The F446RE validates every command.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0335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Firmware: ESD CO-1 to CO-3 | Models and evaluation: ML M2, M3, M5, M6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1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| HARDWARE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NUCLEO-F446RE and wiring plan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56740"/>
          <a:ext cx="10556241" cy="283464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Block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Parts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Controller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NUCLEO-F446RE (Cortex-M4F, 180 MHz), laptop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Build, flash, debug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Sensing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LDR + fixed resistor on PA1 (ADC1_IN1)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0-3.3 V, RC filter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Actuator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Servo signal on PA0 (TIM2_CH1)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Never powered from GPIO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Fixture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Museum case emulator, artifact-plane LDR, shade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Repeatable positions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Protection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Fused 5 V supply, power switch, common ground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Separate fused branches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9199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Board note: the course syllabus uses the H743, but F4 concepts are the same. CAN here is bxCAN, not FDCAN.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| EMBEDDED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Firmware design (STM32F446RE)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82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1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82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39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Peripherals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903221"/>
            <a:ext cx="310453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TIM2 PWM about 50 Hz for the servo. ADC1 with DMA and oversampling for the LDR. USART2 for the host link. GPIO for LEDs.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5707" y="1846582"/>
            <a:ext cx="3420586" cy="2184400"/>
          </a:xfrm>
          <a:prstGeom prst="roundRect">
            <a:avLst>
              <a:gd name="adj" fmla="val 4651"/>
            </a:avLst>
          </a:prstGeom>
          <a:solidFill>
            <a:srgbClr val="1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846582"/>
            <a:ext cx="3420586" cy="2184400"/>
          </a:xfrm>
          <a:custGeom>
            <a:avLst/>
            <a:gdLst/>
            <a:ahLst/>
            <a:cxnLst/>
            <a:rect l="l" t="t" r="r" b="b"/>
            <a:pathLst>
              <a:path w="3420586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86" y="0"/>
                </a:lnTo>
                <a:arcTo wR="101600" hR="101600" stAng="16200000" swAng="5400000"/>
                <a:lnTo>
                  <a:pt x="3420586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907" y="2542539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flow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8907" y="2903221"/>
            <a:ext cx="310461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basic timer interrupt (TIM6) drives the scan tick, not polling. Settle delay, then average N samples. Out-of-range angles rejected.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93" y="1846582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1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1846582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893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1893" y="2542539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1893" y="2903221"/>
            <a:ext cx="310453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IWDG watchdog, host timeout, fault latch, safe-home state. Angle and slew limits live in the MCU.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2595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States: IDLE, SCAN, HOLD, MOVE, RETURN_HOME, FAULT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| PROTOCOL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Host and MCU protocol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56742"/>
          <a:ext cx="10556241" cy="178435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Command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Meaning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MCU response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ANGLE_ID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Move to an approved angle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ACK or REJECT + reason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SCAN_PROFILE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 partial or full scan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Profile stream + ACK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HOLD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Stay at current angle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RETURN_HOME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Go to safe neutral angle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ACK, always allowed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869689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message carries model version, confidence band, sequence number and expiry. Stale or unknown commands are refused.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| DATA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collection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82"/>
            <a:ext cx="3420507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82"/>
            <a:ext cx="3420507" cy="1953260"/>
          </a:xfrm>
          <a:custGeom>
            <a:avLst/>
            <a:gdLst/>
            <a:ahLst/>
            <a:cxnLst/>
            <a:rect l="l" t="t" r="r" b="b"/>
            <a:pathLst>
              <a:path w="3420507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39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record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903221"/>
            <a:ext cx="310453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Servo angle, LDR voltage, ambient level, scan direction, sample time, position quality, temperature.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5707" y="1846582"/>
            <a:ext cx="3420586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846582"/>
            <a:ext cx="3420586" cy="1953260"/>
          </a:xfrm>
          <a:custGeom>
            <a:avLst/>
            <a:gdLst/>
            <a:ahLst/>
            <a:cxnLst/>
            <a:rect l="l" t="t" r="r" b="b"/>
            <a:pathLst>
              <a:path w="3420586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86" y="0"/>
                </a:lnTo>
                <a:arcTo wR="101600" hR="101600" stAng="16200000" swAng="5400000"/>
                <a:lnTo>
                  <a:pt x="3420586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907" y="2542539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8907" y="2903221"/>
            <a:ext cx="310461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variant_id, condition_id, run_id, target level, calibration version. A scan is one independent example.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93" y="1846582"/>
            <a:ext cx="3420507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1846582"/>
            <a:ext cx="3420507" cy="1953260"/>
          </a:xfrm>
          <a:custGeom>
            <a:avLst/>
            <a:gdLst/>
            <a:ahLst/>
            <a:cxnLst/>
            <a:rect l="l" t="t" r="r" b="b"/>
            <a:pathLst>
              <a:path w="3420507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893" y="208533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1893" y="2542539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much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1893" y="2903221"/>
            <a:ext cx="310453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6-10 short safe runs per state plus organiser seed data. Split by run or session, never adjacent scans.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0284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labelled dataset, data dictionary and quality checks.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| MACHINE LEARNING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39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Machine learning approach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56742"/>
          <a:ext cx="10556240" cy="237236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Step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Detail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Features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Peak intensity, peak angle, curve asymmetry, angle gradient, total exposure, temperature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A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Classify exposure risk: safe, caution, dangerous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 B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Regress best safe angle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Ridge logistic regression, then gradient-boosted tree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Baseline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Fixed-angle exhaustive scan, maximum LDR value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457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Classification or regression is the default; clustering only where already covered.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| EVALUATION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Evaluation and nearest confuser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79"/>
            <a:ext cx="3420507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79"/>
            <a:ext cx="3420507" cy="1953260"/>
          </a:xfrm>
          <a:custGeom>
            <a:avLst/>
            <a:gdLst/>
            <a:ahLst/>
            <a:cxnLst/>
            <a:rect l="l" t="t" r="r" b="b"/>
            <a:pathLst>
              <a:path w="3420507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42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903221"/>
            <a:ext cx="310453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Confusion matrix, macro-F1, recall of the dangerous class, angle error, intensity regret, scan-time saved.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5707" y="1846579"/>
            <a:ext cx="3420586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846579"/>
            <a:ext cx="3420586" cy="1953260"/>
          </a:xfrm>
          <a:custGeom>
            <a:avLst/>
            <a:gdLst/>
            <a:ahLst/>
            <a:cxnLst/>
            <a:rect l="l" t="t" r="r" b="b"/>
            <a:pathLst>
              <a:path w="3420586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86" y="0"/>
                </a:lnTo>
                <a:arcTo wR="101600" hR="101600" stAng="16200000" swAng="5400000"/>
                <a:lnTo>
                  <a:pt x="3420586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907" y="2542542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8907" y="2903221"/>
            <a:ext cx="310461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Stratified CV grouped by run, held-out physical runs, confidence calibration, learning curve.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93" y="1846579"/>
            <a:ext cx="3420507" cy="1953260"/>
          </a:xfrm>
          <a:prstGeom prst="roundRect">
            <a:avLst>
              <a:gd name="adj" fmla="val 5202"/>
            </a:avLst>
          </a:prstGeom>
          <a:solidFill>
            <a:srgbClr val="1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1846579"/>
            <a:ext cx="3420507" cy="1953260"/>
          </a:xfrm>
          <a:custGeom>
            <a:avLst/>
            <a:gdLst/>
            <a:ahLst/>
            <a:cxnLst/>
            <a:rect l="l" t="t" r="r" b="b"/>
            <a:pathLst>
              <a:path w="3420507" h="195326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893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1893" y="2542542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cases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1893" y="2903221"/>
            <a:ext cx="310453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nearest states, noisy local peak, reflection, partial shadow. Prove it beats a simple threshold.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0284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 error by load, direction, temperature and lighting regime.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| SAFETY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Safety, faults and live acceptance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79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79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42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 behaviour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2903221"/>
            <a:ext cx="310453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Bounded speed and travel. Host timeout or manual override returns to neutral. The MCU decides whether a prediction is applied.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5707" y="1846579"/>
            <a:ext cx="3420586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385707" y="1846579"/>
            <a:ext cx="3420586" cy="2184400"/>
          </a:xfrm>
          <a:custGeom>
            <a:avLst/>
            <a:gdLst/>
            <a:ahLst/>
            <a:cxnLst/>
            <a:rect l="l" t="t" r="r" b="b"/>
            <a:pathLst>
              <a:path w="3420586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86" y="0"/>
                </a:lnTo>
                <a:arcTo wR="101600" hR="101600" stAng="16200000" swAng="5400000"/>
                <a:lnTo>
                  <a:pt x="3420586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1F8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907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907" y="2542542"/>
            <a:ext cx="31046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Faults handled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88907" y="2903221"/>
            <a:ext cx="310461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lost, ADC out of range, stale command, servo limit, watchdog reset. Faults are latched and reported.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93" y="1846579"/>
            <a:ext cx="3420507" cy="2184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93" y="1846579"/>
            <a:ext cx="3420507" cy="2184400"/>
          </a:xfrm>
          <a:custGeom>
            <a:avLst/>
            <a:gdLst/>
            <a:ahLst/>
            <a:cxnLst/>
            <a:rect l="l" t="t" r="r" b="b"/>
            <a:pathLst>
              <a:path w="3420507" h="21844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07" y="0"/>
                </a:lnTo>
                <a:arcTo wR="101600" hR="101600" stAng="16200000" swAng="5400000"/>
                <a:lnTo>
                  <a:pt x="3420507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161893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61893" y="2542542"/>
            <a:ext cx="310453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61893" y="2903221"/>
            <a:ext cx="310453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445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Reference run, target run, nearest-confuser run with telemetry, ACK and physical outcome. Then unplug the host and show safe state.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| TEAM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Team roles (4 members)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46579"/>
            <a:ext cx="2527300" cy="2212340"/>
          </a:xfrm>
          <a:prstGeom prst="roundRect">
            <a:avLst>
              <a:gd name="adj" fmla="val 4592"/>
            </a:avLst>
          </a:prstGeom>
          <a:solidFill>
            <a:srgbClr val="1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846579"/>
            <a:ext cx="2527300" cy="2212340"/>
          </a:xfrm>
          <a:custGeom>
            <a:avLst/>
            <a:gdLst/>
            <a:ahLst/>
            <a:cxnLst/>
            <a:rect l="l" t="t" r="r" b="b"/>
            <a:pathLst>
              <a:path w="2527300" h="2212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542542"/>
            <a:ext cx="2184527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US" sz="1700" b="1" dirty="0" err="1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K.Sai</a:t>
            </a: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babu] Firmware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6000" y="3162300"/>
            <a:ext cx="218452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Timers, PWM, ADC DMA, USART2, watchdog, state machine.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2500" y="1846579"/>
            <a:ext cx="2527300" cy="2212340"/>
          </a:xfrm>
          <a:prstGeom prst="roundRect">
            <a:avLst>
              <a:gd name="adj" fmla="val 4592"/>
            </a:avLst>
          </a:prstGeom>
          <a:solidFill>
            <a:srgbClr val="1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3492500" y="1846579"/>
            <a:ext cx="2527300" cy="2212340"/>
          </a:xfrm>
          <a:custGeom>
            <a:avLst/>
            <a:gdLst/>
            <a:ahLst/>
            <a:cxnLst/>
            <a:rect l="l" t="t" r="r" b="b"/>
            <a:pathLst>
              <a:path w="2527300" h="2212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957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5700" y="2542542"/>
            <a:ext cx="2184527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US" sz="1700" b="1" dirty="0" err="1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M.L.N.Manikanta</a:t>
            </a: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] Hardware and safety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5700" y="3162300"/>
            <a:ext cx="21845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Fixture, wiring, fused supply, travel stops, calibration.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846579"/>
            <a:ext cx="2527300" cy="2212340"/>
          </a:xfrm>
          <a:prstGeom prst="roundRect">
            <a:avLst>
              <a:gd name="adj" fmla="val 4592"/>
            </a:avLst>
          </a:prstGeom>
          <a:solidFill>
            <a:srgbClr val="1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846579"/>
            <a:ext cx="2527300" cy="2212340"/>
          </a:xfrm>
          <a:custGeom>
            <a:avLst/>
            <a:gdLst/>
            <a:ahLst/>
            <a:cxnLst/>
            <a:rect l="l" t="t" r="r" b="b"/>
            <a:pathLst>
              <a:path w="2527300" h="2212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2BB3B1"/>
          </a:solidFill>
          <a:ln/>
        </p:spPr>
      </p:sp>
      <p:sp>
        <p:nvSpPr>
          <p:cNvPr id="17" name="Text 15"/>
          <p:cNvSpPr/>
          <p:nvPr/>
        </p:nvSpPr>
        <p:spPr>
          <a:xfrm>
            <a:off x="63754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5400" y="2542542"/>
            <a:ext cx="2184527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40"/>
              </a:lnSpc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US" sz="1700" b="1" dirty="0" err="1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Ch.Bhuvan</a:t>
            </a: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]</a:t>
            </a:r>
          </a:p>
          <a:p>
            <a:pPr>
              <a:lnSpc>
                <a:spcPts val="2040"/>
              </a:lnSpc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Data and ML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75400" y="3162300"/>
            <a:ext cx="21845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Dataset, features, baseline, ridge and tree models, plots.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51900" y="1846579"/>
            <a:ext cx="2527300" cy="2212340"/>
          </a:xfrm>
          <a:prstGeom prst="roundRect">
            <a:avLst>
              <a:gd name="adj" fmla="val 4592"/>
            </a:avLst>
          </a:prstGeom>
          <a:solidFill>
            <a:srgbClr val="1A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1900" y="1846579"/>
            <a:ext cx="2527300" cy="2212340"/>
          </a:xfrm>
          <a:custGeom>
            <a:avLst/>
            <a:gdLst/>
            <a:ahLst/>
            <a:cxnLst/>
            <a:rect l="l" t="t" r="r" b="b"/>
            <a:pathLst>
              <a:path w="2527300" h="22123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63500" stAng="0" swAng="-5400000"/>
                <a:lnTo>
                  <a:pt x="101600" y="38100"/>
                </a:lnTo>
                <a:arcTo wR="101600" hR="635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055100" y="2085342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E8A3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5100" y="2542542"/>
            <a:ext cx="2184527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US" sz="1700" b="1" dirty="0" err="1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K.Eswar</a:t>
            </a:r>
            <a:r>
              <a:rPr lang="en-US" sz="1700" b="1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] Integration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55100" y="3162300"/>
            <a:ext cx="218452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service, protocol, README, demo video, live test.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2875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Everyone joins the reviews and the live acceptance.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C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112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| DELIVERY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7094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Timeline, reviews and deliverables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56739"/>
          <a:ext cx="10556240" cy="249809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Review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Evidence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R1 Design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Geometry, scan angles, light regimes, safe neutral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R2 Embedded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Repeatable scan, tagged angles, bounded commands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R3 Data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Dataset, quality checks, brightest-sample baseline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R4 ML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Angle error, regime model, unseen locations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R5 Integration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Partial-scan positioning, host-loss test, override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Final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33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Blind light configuration vs baseline scan policy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5834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Deliver: firmware, protocol, dataset, notebook, test report, demo video, README.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LumiTrack | Variant 10.03 | Museum Exposure Limiter | NUCLEO-F446RE |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iTrack – Museum Exposure Limiter (Variant 10.03)">
  <a:themeElements>
    <a:clrScheme name="LumiTrack – Museum Exposure Limiter (Variant 10.03)">
      <a:dk1>
        <a:srgbClr val="0F1B33"/>
      </a:dk1>
      <a:lt1>
        <a:srgbClr val="F6F4EE"/>
      </a:lt1>
      <a:dk2>
        <a:srgbClr val="263146"/>
      </a:dk2>
      <a:lt2>
        <a:srgbClr val="BCBEBF"/>
      </a:lt2>
      <a:accent1>
        <a:srgbClr val="E8A33D"/>
      </a:accent1>
      <a:accent2>
        <a:srgbClr val="1F8A8A"/>
      </a:accent2>
      <a:accent3>
        <a:srgbClr val="8FA0C0"/>
      </a:accent3>
      <a:accent4>
        <a:srgbClr val="2BB3B1"/>
      </a:accent4>
      <a:accent5>
        <a:srgbClr val="8FD0CF"/>
      </a:accent5>
      <a:accent6>
        <a:srgbClr val="C5CDE0"/>
      </a:accent6>
      <a:hlink>
        <a:srgbClr val="0563C1"/>
      </a:hlink>
      <a:folHlink>
        <a:srgbClr val="954F72"/>
      </a:folHlink>
    </a:clrScheme>
    <a:fontScheme name="LumiTrack – Museum Exposure Limiter (Variant 10.03)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1222</Words>
  <Application>Microsoft Office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Georgia</vt:lpstr>
      <vt:lpstr>Helvetica</vt:lpstr>
      <vt:lpstr>LumiTrack – Museum Exposure Limiter (Variant 10.03)</vt:lpstr>
      <vt:lpstr>Museum Exposure Limiter</vt:lpstr>
      <vt:lpstr>Problem and real-time use case</vt:lpstr>
      <vt:lpstr>System architecture</vt:lpstr>
      <vt:lpstr>NUCLEO-F446RE and wiring plan</vt:lpstr>
      <vt:lpstr>Firmware design (STM32F446RE)</vt:lpstr>
      <vt:lpstr>Host and MCU protocol</vt:lpstr>
      <vt:lpstr>Data collection plan</vt:lpstr>
      <vt:lpstr>Machine learning approach</vt:lpstr>
      <vt:lpstr>Evaluation and nearest confuser</vt:lpstr>
      <vt:lpstr>Safety, faults and live acceptance</vt:lpstr>
      <vt:lpstr>Team roles (4 members)</vt:lpstr>
      <vt:lpstr>Timeline, reviews and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LumiTrack – Museum Exposure Limiter (Variant 10.03)</dc:title>
  <dc:subject/>
  <dc:creator>Manikanta Maddukuri</dc:creator>
  <cp:lastModifiedBy>Manikanta Maddukuri</cp:lastModifiedBy>
  <cp:revision>2</cp:revision>
  <dcterms:created xsi:type="dcterms:W3CDTF">2026-10-10T19:24:45Z</dcterms:created>
  <dcterms:modified xsi:type="dcterms:W3CDTF">2026-10-10T19:28:03Z</dcterms:modified>
</cp:coreProperties>
</file>